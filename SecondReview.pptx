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6" r:id="rId3"/>
    <p:sldId id="257" r:id="rId4"/>
    <p:sldId id="259" r:id="rId5"/>
    <p:sldId id="260" r:id="rId6"/>
    <p:sldId id="261" r:id="rId7"/>
    <p:sldId id="266" r:id="rId8"/>
    <p:sldId id="267" r:id="rId9"/>
    <p:sldId id="262" r:id="rId10"/>
    <p:sldId id="268" r:id="rId11"/>
    <p:sldId id="269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9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06F13-F2CA-4EB2-8564-AF15C019D995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61314-F346-41E7-B073-D95D9CFB8D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9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48246" y="365126"/>
            <a:ext cx="9805554" cy="105843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838200" y="1825625"/>
            <a:ext cx="10515600" cy="42842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518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572" y="365126"/>
            <a:ext cx="9265227" cy="105843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842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264275"/>
            <a:ext cx="2743200" cy="365125"/>
          </a:xfrm>
        </p:spPr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271780"/>
            <a:ext cx="4114800" cy="365125"/>
          </a:xfrm>
        </p:spPr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271780"/>
            <a:ext cx="2743200" cy="365125"/>
          </a:xfrm>
        </p:spPr>
        <p:txBody>
          <a:bodyPr/>
          <a:lstStyle/>
          <a:p>
            <a:fld id="{38699896-4C7A-4C08-BDD1-D405024FD0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74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2004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1/5/2026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900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17970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99896-4C7A-4C08-BDD1-D405024FD0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28600" y="138768"/>
            <a:ext cx="1121748" cy="493851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5219"/>
            <a:ext cx="12192000" cy="2286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4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ijera.in/index.php/IJERA/article/view/25?utm_source=chatgpt.com" TargetMode="External"/><Relationship Id="rId3" Type="http://schemas.openxmlformats.org/officeDocument/2006/relationships/hyperlink" Target="https://www.ijraset.com/research-paper/fake-real-job-posting-detection-using-machine-learning?utm_source=chatgpt.com" TargetMode="External"/><Relationship Id="rId7" Type="http://schemas.openxmlformats.org/officeDocument/2006/relationships/hyperlink" Target="https://fringeglobal.com/ojs/index.php/jsihs/article/view/a-machine-learning-approach-for-detecting-fraudulent-job-posting?utm_source=chatgpt.com" TargetMode="External"/><Relationship Id="rId2" Type="http://schemas.openxmlformats.org/officeDocument/2006/relationships/hyperlink" Target="https://ijsci.com/index.php/home/article/view/1087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jraset.com/research-paper/fake-job-listing-detection-using-machine-learning-approach?utm_source=chatgpt.com" TargetMode="External"/><Relationship Id="rId5" Type="http://schemas.openxmlformats.org/officeDocument/2006/relationships/hyperlink" Target="https://www.ijraset.com/research-paper/fake-job-detection-system?utm_source=chatgpt.com" TargetMode="External"/><Relationship Id="rId10" Type="http://schemas.openxmlformats.org/officeDocument/2006/relationships/hyperlink" Target="https://ijerst.org/index.php/ijerst/article/view/982?utm_source=chatgpt.com" TargetMode="External"/><Relationship Id="rId4" Type="http://schemas.openxmlformats.org/officeDocument/2006/relationships/hyperlink" Target="https://www.ijraset.com/research-paper/fake-job-posting-detection?utm_source=chatgpt.com" TargetMode="External"/><Relationship Id="rId9" Type="http://schemas.openxmlformats.org/officeDocument/2006/relationships/hyperlink" Target="https://goldncloudpublications.com/index.php/irjaem/article/view/423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057" y="0"/>
            <a:ext cx="12193057" cy="2286198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94771" y="2253043"/>
            <a:ext cx="11201399" cy="4378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Batch Number</a:t>
            </a:r>
            <a:r>
              <a:rPr lang="en-US"/>
              <a:t>: A15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846527"/>
              </p:ext>
            </p:extLst>
          </p:nvPr>
        </p:nvGraphicFramePr>
        <p:xfrm>
          <a:off x="495300" y="4027810"/>
          <a:ext cx="11201400" cy="191579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74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41">
                <a:tc>
                  <a:txBody>
                    <a:bodyPr/>
                    <a:lstStyle/>
                    <a:p>
                      <a:r>
                        <a:rPr lang="en-US" dirty="0"/>
                        <a:t>Team Members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2049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b="1" dirty="0"/>
                        <a:t>Student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dirty="0"/>
                        <a:t>Name / Register Number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err="1"/>
                        <a:t>Syed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Junaid</a:t>
                      </a:r>
                      <a:r>
                        <a:rPr lang="en-US" baseline="0" dirty="0"/>
                        <a:t> Bukhari-RA2211026020063</a:t>
                      </a: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Rajeev Patnaik Rayagada-</a:t>
                      </a:r>
                      <a:r>
                        <a:rPr lang="en-US" baseline="0" dirty="0"/>
                        <a:t>RA2211026020038</a:t>
                      </a: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 err="1"/>
                        <a:t>Jayadev</a:t>
                      </a:r>
                      <a:r>
                        <a:rPr lang="en-US" dirty="0"/>
                        <a:t> Nukala-</a:t>
                      </a:r>
                      <a:r>
                        <a:rPr lang="en-US" baseline="0" dirty="0"/>
                        <a:t>RA2211026020059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Name             : Dr. G. Deena</a:t>
                      </a:r>
                      <a:r>
                        <a:rPr lang="en-US" b="1" baseline="0" dirty="0"/>
                        <a:t> </a:t>
                      </a:r>
                      <a:endParaRPr lang="en-US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Designation  : Assistant</a:t>
                      </a:r>
                      <a:r>
                        <a:rPr lang="en-US" b="1" baseline="0" dirty="0"/>
                        <a:t> Professor</a:t>
                      </a:r>
                      <a:endParaRPr lang="en-US" b="1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Department  : CSE-AIML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38985" y="6356352"/>
            <a:ext cx="10512972" cy="273049"/>
          </a:xfrm>
        </p:spPr>
        <p:txBody>
          <a:bodyPr/>
          <a:lstStyle/>
          <a:p>
            <a:r>
              <a:rPr lang="en-US" dirty="0"/>
              <a:t>ARTIFICIAL INTELLIGENCE AND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4771" y="2904554"/>
            <a:ext cx="11201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 Multimodal Fake Job and Recruitment Scam Detection System Using Natural Language Processing and Machine Learning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1/5/2026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9354875" y="2370770"/>
            <a:ext cx="2341295" cy="437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SECOND REVIEW</a:t>
            </a:r>
          </a:p>
        </p:txBody>
      </p:sp>
    </p:spTree>
    <p:extLst>
      <p:ext uri="{BB962C8B-B14F-4D97-AF65-F5344CB8AC3E}">
        <p14:creationId xmlns:p14="http://schemas.microsoft.com/office/powerpoint/2010/main" val="353222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951" y="207964"/>
            <a:ext cx="10268607" cy="114787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b="1" dirty="0"/>
              <a:t>PROBLEM STATEMENT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09903" y="1734207"/>
            <a:ext cx="11382704" cy="4603531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Rapid increase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fake job postings on online platforms</a:t>
            </a:r>
          </a:p>
          <a:p>
            <a:r>
              <a:rPr lang="en-US" dirty="0"/>
              <a:t>Job seekers face </a:t>
            </a:r>
            <a:r>
              <a:rPr lang="en-US" b="1" dirty="0"/>
              <a:t>financial loss</a:t>
            </a:r>
            <a:r>
              <a:rPr lang="en-US" dirty="0"/>
              <a:t> and </a:t>
            </a:r>
            <a:r>
              <a:rPr lang="en-US" b="1" dirty="0"/>
              <a:t>personal data theft</a:t>
            </a:r>
          </a:p>
          <a:p>
            <a:r>
              <a:rPr lang="en-US" b="1" dirty="0"/>
              <a:t>Manual verification</a:t>
            </a:r>
            <a:r>
              <a:rPr lang="en-US" dirty="0"/>
              <a:t> is time-consuming and error-prone</a:t>
            </a:r>
          </a:p>
          <a:p>
            <a:r>
              <a:rPr lang="en-US" b="1" dirty="0"/>
              <a:t>Traditional filters</a:t>
            </a:r>
            <a:r>
              <a:rPr lang="en-US" dirty="0"/>
              <a:t> fail to detect context-based fraud</a:t>
            </a:r>
          </a:p>
          <a:p>
            <a:r>
              <a:rPr lang="en-US" dirty="0"/>
              <a:t>Need for an </a:t>
            </a:r>
            <a:r>
              <a:rPr lang="en-US" b="1" dirty="0"/>
              <a:t>automated ML-based</a:t>
            </a:r>
            <a:r>
              <a:rPr lang="en-US" dirty="0"/>
              <a:t> detection system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46233" y="6253155"/>
            <a:ext cx="10930759" cy="365125"/>
          </a:xfrm>
        </p:spPr>
        <p:txBody>
          <a:bodyPr/>
          <a:lstStyle/>
          <a:p>
            <a:r>
              <a:rPr lang="en-US" dirty="0"/>
              <a:t>ARTIFICIAL INTELLIGENCE AND MACHINE LEARNING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30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291554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Exponential surge in fraudulent job postings across major recruitment platforms.</a:t>
            </a:r>
          </a:p>
          <a:p>
            <a:r>
              <a:rPr lang="en-US" dirty="0"/>
              <a:t>Financial loss and identity theft risks for vulnerable job seekers</a:t>
            </a:r>
          </a:p>
          <a:p>
            <a:r>
              <a:rPr lang="en-US" dirty="0"/>
              <a:t>Traditional keyword-based filters fail to detect context-aware linguistic patterns.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Machine Learning enables pattern recognition in large datasets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Motivation to build a secure and trustworthy job screening system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1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identify fake job postings automatically</a:t>
            </a:r>
          </a:p>
          <a:p>
            <a:pPr algn="just"/>
            <a:r>
              <a:rPr lang="en-US" dirty="0"/>
              <a:t>To train robust ML classifiers capable of handling highly imbalanced fraud datasets.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train ML models for job classification</a:t>
            </a:r>
          </a:p>
          <a:p>
            <a:pPr algn="just"/>
            <a:r>
              <a:rPr lang="en-US" dirty="0"/>
              <a:t>To maximize Recall rates to ensure zero-tolerance for undetected scams</a:t>
            </a:r>
          </a:p>
          <a:p>
            <a:pPr algn="just"/>
            <a:r>
              <a:rPr lang="en-US"/>
              <a:t>To deploy a real-time web interface (Streamlit) for instant job verification.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63386" y="207471"/>
            <a:ext cx="9265227" cy="105843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5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1058430"/>
          </a:xfrm>
        </p:spPr>
        <p:txBody>
          <a:bodyPr/>
          <a:lstStyle/>
          <a:p>
            <a:pPr algn="ctr"/>
            <a:r>
              <a:rPr lang="en-US" b="1" dirty="0"/>
              <a:t>FUNCTIONAL BLOCK DIAGRAM OF </a:t>
            </a:r>
            <a:br>
              <a:rPr lang="en-US" b="1" dirty="0"/>
            </a:br>
            <a:r>
              <a:rPr lang="en-US" b="1" dirty="0"/>
              <a:t>THE PROPOSED METHOD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884E48-F370-2168-3228-907173FC1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7941" y="1549699"/>
            <a:ext cx="8796119" cy="48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6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302064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Dataset Acquisition: Employment Scam Aegean Dataset (EMSCAD).</a:t>
            </a:r>
          </a:p>
          <a:p>
            <a:r>
              <a:rPr lang="en-US" sz="2400" dirty="0"/>
              <a:t>Preprocessing Pipeline: Concatenating text fields (Title + Description + Requirements) and handling missing values.</a:t>
            </a:r>
          </a:p>
          <a:p>
            <a:r>
              <a:rPr lang="en-US" sz="2400" dirty="0"/>
              <a:t>Feature Engineering: TF-IDF Vectorization (Top 5,000 features).</a:t>
            </a:r>
          </a:p>
          <a:p>
            <a:r>
              <a:rPr lang="en-US" sz="2400" dirty="0"/>
              <a:t>Model Training: Support Vector Machine (</a:t>
            </a:r>
            <a:r>
              <a:rPr lang="en-US" sz="2400" dirty="0" err="1"/>
              <a:t>LinearSVC</a:t>
            </a:r>
            <a:r>
              <a:rPr lang="en-US" sz="2400" dirty="0"/>
              <a:t>) with Balanced Class Weights.</a:t>
            </a:r>
          </a:p>
          <a:p>
            <a:r>
              <a:rPr lang="en-US" sz="2400" dirty="0"/>
              <a:t>Evaluation Framework: Precision Optimization, F1-Score, and overall Accuracy analysis. </a:t>
            </a:r>
          </a:p>
          <a:p>
            <a:r>
              <a:rPr lang="en-US" sz="2400" dirty="0"/>
              <a:t>Deployment: Real-time inference engine using </a:t>
            </a:r>
            <a:r>
              <a:rPr lang="en-US" sz="2400" dirty="0" err="1"/>
              <a:t>Streamlit</a:t>
            </a:r>
            <a:r>
              <a:rPr lang="en-US" sz="2400" dirty="0"/>
              <a:t> Web App.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24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302064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ARCHITECTURE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3EB9FAFB-3098-D3A2-0485-27C52C4C8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803" y="831279"/>
            <a:ext cx="9952393" cy="543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302064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MATHEMATICAL MODELS &amp;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6916"/>
                <a:ext cx="10515600" cy="4882939"/>
              </a:xfrm>
            </p:spPr>
            <p:txBody>
              <a:bodyPr>
                <a:noAutofit/>
              </a:bodyPr>
              <a:lstStyle/>
              <a:p>
                <a:r>
                  <a:rPr lang="en-US" sz="2000" b="1" u="sng" dirty="0">
                    <a:latin typeface="Times New Roman" pitchFamily="18" charset="0"/>
                    <a:cs typeface="Times New Roman" pitchFamily="18" charset="0"/>
                  </a:rPr>
                  <a:t>Binary Classification Problem</a:t>
                </a:r>
                <a:endParaRPr lang="en-US" sz="2000" u="sng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={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​      → Job posting text</a:t>
                </a:r>
              </a:p>
              <a:p>
                <a:pPr marL="457200" indent="-45720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	→ 0 = Real, 1 = Fake</a:t>
                </a:r>
              </a:p>
              <a:p>
                <a:r>
                  <a:rPr lang="en-US" sz="2000" b="1" u="sng" dirty="0">
                    <a:latin typeface="Times New Roman" pitchFamily="18" charset="0"/>
                    <a:cs typeface="Times New Roman" pitchFamily="18" charset="0"/>
                  </a:rPr>
                  <a:t>Feature Extraction (TF-IDF)</a:t>
                </a:r>
                <a:endParaRPr lang="en-US" sz="2000" u="sng" dirty="0"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𝐼𝐷𝐹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𝑇𝐹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𝐼𝐷𝐹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b="1" u="sng" dirty="0">
                    <a:latin typeface="Times New Roman" pitchFamily="18" charset="0"/>
                    <a:cs typeface="Times New Roman" pitchFamily="18" charset="0"/>
                  </a:rPr>
                  <a:t>Support Vector Machine (</a:t>
                </a:r>
                <a:r>
                  <a:rPr lang="en-US" sz="2000" b="1" u="sng" dirty="0" err="1">
                    <a:latin typeface="Times New Roman" pitchFamily="18" charset="0"/>
                    <a:cs typeface="Times New Roman" pitchFamily="18" charset="0"/>
                  </a:rPr>
                  <a:t>LinearSVC</a:t>
                </a:r>
                <a:r>
                  <a:rPr lang="en-US" sz="2000" b="1" u="sng" dirty="0">
                    <a:latin typeface="Times New Roman" pitchFamily="18" charset="0"/>
                    <a:cs typeface="Times New Roman" pitchFamily="18" charset="0"/>
                  </a:rPr>
                  <a:t>) Model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𝑇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𝑏</m:t>
                    </m:r>
                  </m:oMath>
                </a14:m>
                <a:endParaRPr lang="en-US" sz="20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sz="2000" b="0" dirty="0">
                    <a:cs typeface="Times New Roman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&gt;0 →</m:t>
                    </m:r>
                  </m:oMath>
                </a14:m>
                <a:r>
                  <a:rPr lang="en-US" sz="2000" b="0" dirty="0">
                    <a:latin typeface="Times New Roman" pitchFamily="18" charset="0"/>
                    <a:cs typeface="Times New Roman" pitchFamily="18" charset="0"/>
                  </a:rPr>
                  <a:t> Fake</a:t>
                </a:r>
              </a:p>
              <a:p>
                <a:pPr>
                  <a:buNone/>
                </a:pPr>
                <a:r>
                  <a:rPr lang="en-US" sz="2000" dirty="0">
                    <a:cs typeface="Times New Roman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itchFamily="18" charset="0"/>
                      </a:rPr>
                      <m:t>0 →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Real</a:t>
                </a:r>
                <a:endParaRPr lang="en-US" sz="2000" b="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6916"/>
                <a:ext cx="10515600" cy="4882939"/>
              </a:xfrm>
              <a:blipFill>
                <a:blip r:embed="rId2"/>
                <a:stretch>
                  <a:fillRect l="-522" t="-12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1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217981"/>
            <a:ext cx="9265227" cy="580672"/>
          </a:xfrm>
        </p:spPr>
        <p:txBody>
          <a:bodyPr/>
          <a:lstStyle/>
          <a:p>
            <a:pPr algn="ctr"/>
            <a:r>
              <a:rPr lang="en-US" b="1" dirty="0"/>
              <a:t>RESULTS AND DISCUSSION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0228"/>
            <a:ext cx="10515600" cy="529962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Dataset Overview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Total Records: 17,880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Real Jobs: </a:t>
            </a:r>
            <a:r>
              <a:rPr lang="en-IN" sz="2000" dirty="0"/>
              <a:t>17,014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Fake Jobs: </a:t>
            </a:r>
            <a:r>
              <a:rPr lang="en-IN" sz="2000" dirty="0"/>
              <a:t>866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Train/Test Split: 80% / 20%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Model Performance (Test Data)</a:t>
            </a: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MetricValue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Accuracy-</a:t>
            </a:r>
            <a:r>
              <a:rPr lang="en-IN" sz="2000" dirty="0"/>
              <a:t> 98.21%</a:t>
            </a: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Precision-</a:t>
            </a:r>
            <a:r>
              <a:rPr lang="en-IN" sz="2000" dirty="0"/>
              <a:t> 80%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Recall-</a:t>
            </a:r>
            <a:r>
              <a:rPr lang="en-IN" sz="2000" dirty="0"/>
              <a:t> 84%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F1-Score-</a:t>
            </a:r>
            <a:r>
              <a:rPr lang="en-IN" sz="2000" dirty="0"/>
              <a:t> 82%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91459"/>
              </p:ext>
            </p:extLst>
          </p:nvPr>
        </p:nvGraphicFramePr>
        <p:xfrm>
          <a:off x="4989868" y="2158738"/>
          <a:ext cx="5294775" cy="1980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3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</a:rPr>
                        <a:t>Predicted Real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</a:rPr>
                        <a:t>Predicted Fake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63">
                <a:tc>
                  <a:txBody>
                    <a:bodyPr/>
                    <a:lstStyle/>
                    <a:p>
                      <a:r>
                        <a:rPr lang="en-US" sz="2400" dirty="0"/>
                        <a:t>Actual Real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3367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36</a:t>
                      </a:r>
                      <a:r>
                        <a:rPr lang="en-IN" sz="2400" dirty="0"/>
                        <a:t> 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6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kern="1200" dirty="0">
                          <a:solidFill>
                            <a:schemeClr val="tx1"/>
                          </a:solidFill>
                        </a:rPr>
                        <a:t>Actual Fake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28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145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449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7" y="1"/>
            <a:ext cx="9208472" cy="625032"/>
          </a:xfrm>
        </p:spPr>
        <p:txBody>
          <a:bodyPr/>
          <a:lstStyle/>
          <a:p>
            <a:pPr algn="ctr"/>
            <a:r>
              <a:rPr lang="en-US" b="1" dirty="0"/>
              <a:t>RESULTS AND DISCUSSION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9124"/>
            <a:ext cx="10515600" cy="535907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COMPARISON WITH EXISTING MODELS</a:t>
            </a: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Traditional Methods</a:t>
            </a:r>
          </a:p>
          <a:p>
            <a:pPr marL="514350" indent="-514350"/>
            <a:r>
              <a:rPr lang="en-IN" dirty="0"/>
              <a:t>Manual / rule-based filtering </a:t>
            </a:r>
          </a:p>
          <a:p>
            <a:pPr marL="514350" indent="-514350"/>
            <a:r>
              <a:rPr lang="en-IN" dirty="0"/>
              <a:t>Low scalability </a:t>
            </a:r>
          </a:p>
          <a:p>
            <a:pPr marL="514350" indent="-514350"/>
            <a:r>
              <a:rPr lang="en-IN" dirty="0"/>
              <a:t>Accuracy: 70–80%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Existing ML Models</a:t>
            </a:r>
          </a:p>
          <a:p>
            <a:pPr marL="514350" indent="-514350"/>
            <a:r>
              <a:rPr lang="en-IN" dirty="0"/>
              <a:t>Naïve Bayes, SVM</a:t>
            </a:r>
          </a:p>
          <a:p>
            <a:pPr marL="514350" indent="-514350"/>
            <a:r>
              <a:rPr lang="en-US" dirty="0"/>
              <a:t>Basic vectorization (Bag of Words)</a:t>
            </a:r>
          </a:p>
          <a:p>
            <a:pPr marL="514350" indent="-514350"/>
            <a:r>
              <a:rPr lang="en-IN" dirty="0"/>
              <a:t>Accuracy: 85–90%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Proposed Model</a:t>
            </a:r>
          </a:p>
          <a:p>
            <a:pPr marL="514350" indent="-514350"/>
            <a:r>
              <a:rPr lang="en-US" b="1" dirty="0"/>
              <a:t>Technique:</a:t>
            </a:r>
            <a:r>
              <a:rPr lang="en-US" dirty="0"/>
              <a:t> TF-IDF + Logistic Regression (Balanced Class Weights)</a:t>
            </a:r>
          </a:p>
          <a:p>
            <a:pPr marL="514350" indent="-514350"/>
            <a:r>
              <a:rPr lang="en-IN" b="1" dirty="0"/>
              <a:t>Accuracy:</a:t>
            </a:r>
            <a:r>
              <a:rPr lang="en-IN" dirty="0"/>
              <a:t> 96.76%</a:t>
            </a:r>
            <a:r>
              <a:rPr lang="en-US" dirty="0"/>
              <a:t> </a:t>
            </a:r>
          </a:p>
          <a:p>
            <a:pPr marL="514350" indent="-514350"/>
            <a:r>
              <a:rPr lang="en-US" b="1" dirty="0"/>
              <a:t>Optimization:</a:t>
            </a:r>
            <a:r>
              <a:rPr lang="en-US" dirty="0"/>
              <a:t> High Recall (90%) for enhanced scam detection</a:t>
            </a:r>
          </a:p>
          <a:p>
            <a:pPr marL="514350" indent="-514350"/>
            <a:r>
              <a:rPr lang="en-US" b="1" dirty="0"/>
              <a:t>Status:</a:t>
            </a:r>
            <a:r>
              <a:rPr lang="en-US" dirty="0"/>
              <a:t> Live </a:t>
            </a:r>
            <a:r>
              <a:rPr lang="en-US" dirty="0" err="1"/>
              <a:t>Streamlit</a:t>
            </a:r>
            <a:r>
              <a:rPr lang="en-US" dirty="0"/>
              <a:t> Web App Deployment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FC5703F-DD00-AA11-0C51-070AB5F6F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/ rule-based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86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217981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RESULTS AND DISCUSSION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B13E8F6-D130-5C02-0132-363FE7957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9317" y="783840"/>
            <a:ext cx="6592553" cy="548043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28A2A5-E81E-2183-6EF9-EB4F13EBA24F}"/>
              </a:ext>
            </a:extLst>
          </p:cNvPr>
          <p:cNvSpPr txBox="1"/>
          <p:nvPr/>
        </p:nvSpPr>
        <p:spPr>
          <a:xfrm>
            <a:off x="311169" y="1645918"/>
            <a:ext cx="55528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Dataset 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Total Records:</a:t>
            </a:r>
            <a:r>
              <a:rPr lang="en-IN" sz="2400" dirty="0"/>
              <a:t> 17,880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Class Distribution:</a:t>
            </a:r>
            <a:r>
              <a:rPr lang="en-US" sz="2400" dirty="0"/>
              <a:t> 17,014 Real / 866 Fake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Train/Test Split:</a:t>
            </a:r>
            <a:r>
              <a:rPr lang="en-US" sz="2400" dirty="0"/>
              <a:t> 80% / 20%</a:t>
            </a:r>
          </a:p>
          <a:p>
            <a:r>
              <a:rPr lang="en-IN" sz="2400" dirty="0"/>
              <a:t>Model Performance (Test Data):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Accuracy</a:t>
            </a:r>
            <a:r>
              <a:rPr lang="en-IN" sz="2400" dirty="0"/>
              <a:t>: 98.21%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Recall (Fake):</a:t>
            </a:r>
            <a:r>
              <a:rPr lang="en-IN" sz="2400" dirty="0"/>
              <a:t> 84%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Precision (Fake):</a:t>
            </a:r>
            <a:r>
              <a:rPr lang="en-IN" sz="2400" dirty="0"/>
              <a:t>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F1-Score:</a:t>
            </a:r>
            <a:r>
              <a:rPr lang="en-IN" sz="2400" dirty="0"/>
              <a:t> 82%</a:t>
            </a:r>
          </a:p>
        </p:txBody>
      </p:sp>
    </p:spTree>
    <p:extLst>
      <p:ext uri="{BB962C8B-B14F-4D97-AF65-F5344CB8AC3E}">
        <p14:creationId xmlns:p14="http://schemas.microsoft.com/office/powerpoint/2010/main" val="224378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217981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Core Language &amp; IDE: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Python, </a:t>
            </a:r>
            <a:r>
              <a:rPr lang="en-US" altLang="en-US" dirty="0" err="1">
                <a:latin typeface="Times New Roman" pitchFamily="18" charset="0"/>
                <a:cs typeface="Times New Roman" pitchFamily="18" charset="0"/>
              </a:rPr>
              <a:t>Jupyter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Notebook, VS Code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Data Processing: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Pandas, NumPy, NLTK &amp; Regex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Scikit-learn (for TF-IDF &amp; SVM Model)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Visualization: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Matplotlib, Seaborn</a:t>
            </a:r>
          </a:p>
          <a:p>
            <a:pPr lvl="0" fontAlgn="base">
              <a:spcAft>
                <a:spcPct val="0"/>
              </a:spcAft>
            </a:pP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Deployment &amp; Serialization: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err="1">
                <a:latin typeface="Times New Roman" pitchFamily="18" charset="0"/>
                <a:cs typeface="Times New Roman" pitchFamily="18" charset="0"/>
              </a:rPr>
              <a:t>Streamlit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dirty="0" err="1">
                <a:latin typeface="Times New Roman" pitchFamily="18" charset="0"/>
                <a:cs typeface="Times New Roman" pitchFamily="18" charset="0"/>
              </a:rPr>
              <a:t>Joblib</a:t>
            </a:r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8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165429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Browser Extension Integration:</a:t>
            </a:r>
            <a:r>
              <a:rPr lang="en-US" dirty="0"/>
              <a:t> Can be deployed as a plug-in to automatically scan job boards (LinkedIn, Indeed) in real-time.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reduce online employment fraud</a:t>
            </a:r>
          </a:p>
          <a:p>
            <a:r>
              <a:rPr lang="en-IN" b="1" dirty="0"/>
              <a:t>Contextual AI Upgrade:</a:t>
            </a:r>
            <a:r>
              <a:rPr lang="en-IN" dirty="0"/>
              <a:t> Transitioning from SVM to Transformer models (like BERT)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Real-time job posting verification in future</a:t>
            </a:r>
          </a:p>
          <a:p>
            <a:r>
              <a:rPr lang="en-US" b="1" dirty="0"/>
              <a:t>Multimodal Metadata Verification:</a:t>
            </a:r>
            <a:r>
              <a:rPr lang="en-US" dirty="0"/>
              <a:t> Expanding the model to verify non-text features like company domain age, logo authenticity, and email domains.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28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386" y="154919"/>
            <a:ext cx="9265227" cy="1058430"/>
          </a:xfrm>
        </p:spPr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1646"/>
            <a:ext cx="10515600" cy="5248209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2400" dirty="0"/>
              <a:t>[1] S. Sharma, R. Gupta, and P. </a:t>
            </a:r>
            <a:r>
              <a:rPr lang="en-US" sz="2400" dirty="0" err="1"/>
              <a:t>Verma</a:t>
            </a:r>
            <a:r>
              <a:rPr lang="en-US" sz="2400" dirty="0"/>
              <a:t>, “Fake Job Posting Detection Using Machine Learning Techniques,” </a:t>
            </a:r>
            <a:r>
              <a:rPr lang="en-US" sz="2400" i="1" dirty="0"/>
              <a:t>IEEE Conference on Artificial Intelligence and Machine Learning</a:t>
            </a:r>
            <a:r>
              <a:rPr lang="en-US" sz="2400" dirty="0"/>
              <a:t>, 2024.</a:t>
            </a:r>
            <a:br>
              <a:rPr lang="en-US" sz="2400" dirty="0"/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https://ieeexplore.ieee.org/document/11007003</a:t>
            </a:r>
          </a:p>
          <a:p>
            <a:pPr>
              <a:buNone/>
            </a:pPr>
            <a:r>
              <a:rPr lang="en-US" sz="2400" dirty="0"/>
              <a:t>[2] P. K. </a:t>
            </a:r>
            <a:r>
              <a:rPr lang="en-US" sz="2400" dirty="0" err="1"/>
              <a:t>Prashanth</a:t>
            </a:r>
            <a:r>
              <a:rPr lang="en-US" sz="2400" dirty="0"/>
              <a:t> </a:t>
            </a:r>
            <a:r>
              <a:rPr lang="en-US" sz="2400" i="1" dirty="0"/>
              <a:t>et al.</a:t>
            </a:r>
            <a:r>
              <a:rPr lang="en-US" sz="2400" dirty="0"/>
              <a:t>, “Online recruitment fraud detection using deep learning,” </a:t>
            </a:r>
            <a:r>
              <a:rPr lang="en-US" sz="2400" i="1" dirty="0"/>
              <a:t>Int. J. Scientific Computing</a:t>
            </a:r>
            <a:r>
              <a:rPr lang="en-US" sz="2400" dirty="0"/>
              <a:t>, 2025.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https://ijsci.com/index.php/home/article/view/1087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[3] V. </a:t>
            </a:r>
            <a:r>
              <a:rPr lang="en-US" sz="2400" dirty="0" err="1"/>
              <a:t>Itnal</a:t>
            </a:r>
            <a:r>
              <a:rPr lang="en-US" sz="2400" dirty="0"/>
              <a:t> </a:t>
            </a:r>
            <a:r>
              <a:rPr lang="en-US" sz="2400" i="1" dirty="0"/>
              <a:t>et al.</a:t>
            </a:r>
            <a:r>
              <a:rPr lang="en-US" sz="2400" dirty="0"/>
              <a:t>, “Fake/real job posting detection using machine learning,” </a:t>
            </a:r>
            <a:r>
              <a:rPr lang="en-US" sz="2400" i="1" dirty="0"/>
              <a:t>IJRASET</a:t>
            </a:r>
            <a:r>
              <a:rPr lang="en-US" sz="2400" dirty="0"/>
              <a:t>, 2025.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https://www.ijraset.com/research-paper/fake-real-job-posting-detection-using-machine-learning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[4] K. </a:t>
            </a:r>
            <a:r>
              <a:rPr lang="en-US" sz="2400" dirty="0" err="1"/>
              <a:t>Pradeep</a:t>
            </a:r>
            <a:r>
              <a:rPr lang="en-US" sz="2400" dirty="0"/>
              <a:t> </a:t>
            </a:r>
            <a:r>
              <a:rPr lang="en-US" sz="2400" i="1" dirty="0"/>
              <a:t>et al.</a:t>
            </a:r>
            <a:r>
              <a:rPr lang="en-US" sz="2400" dirty="0"/>
              <a:t>, “Fake job posting detection,” </a:t>
            </a:r>
            <a:r>
              <a:rPr lang="en-US" sz="2400" i="1" dirty="0"/>
              <a:t>IJRASET</a:t>
            </a:r>
            <a:r>
              <a:rPr lang="en-US" sz="2400" dirty="0"/>
              <a:t>, 2025.</a:t>
            </a:r>
            <a:br>
              <a:rPr lang="en-US" sz="2400" dirty="0"/>
            </a:br>
            <a:r>
              <a:rPr lang="en-US" sz="2400" dirty="0">
                <a:hlinkClick r:id="rId4"/>
              </a:rPr>
              <a:t>https://www.ijraset.com/research-paper/fake-job-posting-detection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[5] S. Kale </a:t>
            </a:r>
            <a:r>
              <a:rPr lang="en-US" sz="2400" i="1" dirty="0"/>
              <a:t>et al.</a:t>
            </a:r>
            <a:r>
              <a:rPr lang="en-US" sz="2400" dirty="0"/>
              <a:t>, “Fake job detection system,” </a:t>
            </a:r>
            <a:r>
              <a:rPr lang="en-US" sz="2400" i="1" dirty="0"/>
              <a:t>IJRASET</a:t>
            </a:r>
            <a:r>
              <a:rPr lang="en-US" sz="2400" dirty="0"/>
              <a:t>, 2024.</a:t>
            </a:r>
            <a:br>
              <a:rPr lang="en-US" sz="2400" dirty="0"/>
            </a:br>
            <a:r>
              <a:rPr lang="en-US" sz="2400" dirty="0">
                <a:hlinkClick r:id="rId5"/>
              </a:rPr>
              <a:t>https://www.ijraset.com/research-paper/fake-job-detection-system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[6] J. Fating </a:t>
            </a:r>
            <a:r>
              <a:rPr lang="en-US" sz="2400" i="1" dirty="0"/>
              <a:t>et al.</a:t>
            </a:r>
            <a:r>
              <a:rPr lang="en-US" sz="2400" dirty="0"/>
              <a:t>, “Fake job listing detection using machine learning,” </a:t>
            </a:r>
            <a:r>
              <a:rPr lang="en-US" sz="2400" i="1" dirty="0"/>
              <a:t>IJRASET</a:t>
            </a:r>
            <a:r>
              <a:rPr lang="en-US" sz="2400" dirty="0"/>
              <a:t>, 2023.</a:t>
            </a:r>
            <a:br>
              <a:rPr lang="en-US" sz="2400" dirty="0"/>
            </a:br>
            <a:r>
              <a:rPr lang="en-US" sz="2400" dirty="0">
                <a:hlinkClick r:id="rId6"/>
              </a:rPr>
              <a:t>https://www.ijraset.com/research-paper/fake-job-listing-detection-using-machine-learning-approach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[7] N. G. </a:t>
            </a:r>
            <a:r>
              <a:rPr lang="en-US" sz="2400" dirty="0" err="1"/>
              <a:t>Teegala</a:t>
            </a:r>
            <a:r>
              <a:rPr lang="en-US" sz="2400" dirty="0"/>
              <a:t> and N. R. Reddy, “Machine learning approach for fraudulent job posting detection,” </a:t>
            </a:r>
            <a:r>
              <a:rPr lang="en-US" sz="2400" i="1" dirty="0"/>
              <a:t>J. Social Innovation &amp; Human Services</a:t>
            </a:r>
            <a:r>
              <a:rPr lang="en-US" sz="2400" dirty="0"/>
              <a:t>, 2025.</a:t>
            </a:r>
            <a:br>
              <a:rPr lang="en-US" sz="2400" dirty="0"/>
            </a:br>
            <a:r>
              <a:rPr lang="en-US" sz="2400" dirty="0">
                <a:hlinkClick r:id="rId7"/>
              </a:rPr>
              <a:t>https://fringeglobal.com/ojs/index.php/jsihs/article/view/a-machine-learning-approach-for-detecting-fraudulent-job-posting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[8] P. </a:t>
            </a:r>
            <a:r>
              <a:rPr lang="en-US" sz="2400" dirty="0" err="1"/>
              <a:t>Deka</a:t>
            </a:r>
            <a:r>
              <a:rPr lang="en-US" sz="2400" dirty="0"/>
              <a:t>, A. Seal, and S. </a:t>
            </a:r>
            <a:r>
              <a:rPr lang="en-US" sz="2400" dirty="0" err="1"/>
              <a:t>Banik</a:t>
            </a:r>
            <a:r>
              <a:rPr lang="en-US" sz="2400" dirty="0"/>
              <a:t>, “Review of machine learning techniques for fake job detection,” </a:t>
            </a:r>
            <a:r>
              <a:rPr lang="en-US" sz="2400" i="1" dirty="0"/>
              <a:t>IJERA</a:t>
            </a:r>
            <a:r>
              <a:rPr lang="en-US" sz="2400" dirty="0"/>
              <a:t>, 2025.</a:t>
            </a:r>
            <a:br>
              <a:rPr lang="en-US" sz="2400" dirty="0"/>
            </a:br>
            <a:r>
              <a:rPr lang="en-US" sz="2400" dirty="0">
                <a:hlinkClick r:id="rId8"/>
              </a:rPr>
              <a:t>https://ijera.in/index.php/IJERA/article/view/25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[9] K. S. </a:t>
            </a:r>
            <a:r>
              <a:rPr lang="en-US" sz="2400" dirty="0" err="1"/>
              <a:t>Sridevi</a:t>
            </a:r>
            <a:r>
              <a:rPr lang="en-US" sz="2400" dirty="0"/>
              <a:t> </a:t>
            </a:r>
            <a:r>
              <a:rPr lang="en-US" sz="2400" i="1" dirty="0"/>
              <a:t>et al.</a:t>
            </a:r>
            <a:r>
              <a:rPr lang="en-US" sz="2400" dirty="0"/>
              <a:t>, “Real </a:t>
            </a:r>
            <a:r>
              <a:rPr lang="en-US" sz="2400" dirty="0" err="1"/>
              <a:t>vs</a:t>
            </a:r>
            <a:r>
              <a:rPr lang="en-US" sz="2400" dirty="0"/>
              <a:t> fake job posting detection,” </a:t>
            </a:r>
            <a:r>
              <a:rPr lang="en-US" sz="2400" i="1" dirty="0"/>
              <a:t>IRJAEM</a:t>
            </a:r>
            <a:r>
              <a:rPr lang="en-US" sz="2400" dirty="0"/>
              <a:t>, 2024.</a:t>
            </a:r>
            <a:br>
              <a:rPr lang="en-US" sz="2400" dirty="0"/>
            </a:br>
            <a:r>
              <a:rPr lang="en-US" sz="2400" dirty="0">
                <a:hlinkClick r:id="rId9"/>
              </a:rPr>
              <a:t>https://goldncloudpublications.com/index.php/irjaem/article/view/423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[10] S. </a:t>
            </a:r>
            <a:r>
              <a:rPr lang="en-US" sz="2400" dirty="0" err="1"/>
              <a:t>Ramya</a:t>
            </a:r>
            <a:r>
              <a:rPr lang="en-US" sz="2400" dirty="0"/>
              <a:t> </a:t>
            </a:r>
            <a:r>
              <a:rPr lang="en-US" sz="2400" i="1" dirty="0"/>
              <a:t>et al.</a:t>
            </a:r>
            <a:r>
              <a:rPr lang="en-US" sz="2400" dirty="0"/>
              <a:t>, “Fake job prediction using machine learning algorithms,” </a:t>
            </a:r>
            <a:r>
              <a:rPr lang="en-US" sz="2400" i="1" dirty="0"/>
              <a:t>IJERST</a:t>
            </a:r>
            <a:r>
              <a:rPr lang="en-US" sz="2400" dirty="0"/>
              <a:t>, 2025.</a:t>
            </a:r>
            <a:br>
              <a:rPr lang="en-US" sz="2400" dirty="0"/>
            </a:br>
            <a:r>
              <a:rPr lang="en-US" sz="2400" dirty="0">
                <a:hlinkClick r:id="rId10"/>
              </a:rPr>
              <a:t>https://ijerst.org/index.php/ijerst/article/view/982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 AND MACHINE LEARNING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99896-4C7A-4C08-BDD1-D405024FD0A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1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" id="{35463154-B7CD-4B9B-B5BF-0FD7D789B160}" vid="{93C6420C-C8EC-4C6C-869D-2BFDCF6508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</Template>
  <TotalTime>1668</TotalTime>
  <Words>1187</Words>
  <Application>Microsoft Office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Times New Roman</vt:lpstr>
      <vt:lpstr>Office Theme</vt:lpstr>
      <vt:lpstr>PowerPoint Presentation</vt:lpstr>
      <vt:lpstr>PROBLEM STATEMENT </vt:lpstr>
      <vt:lpstr>BACKGROUND &amp; MOTIVATION</vt:lpstr>
      <vt:lpstr>OBJECTIVES</vt:lpstr>
      <vt:lpstr>FUNCTIONAL BLOCK DIAGRAM OF  THE PROPOSED METHOD</vt:lpstr>
      <vt:lpstr>METHODOLOGY</vt:lpstr>
      <vt:lpstr>ARCHITECTURE DIAGRAM</vt:lpstr>
      <vt:lpstr>MATHEMATICAL MODELS &amp; EQUATIONS</vt:lpstr>
      <vt:lpstr>RESULTS AND DISCUSSION </vt:lpstr>
      <vt:lpstr>RESULTS AND DISCUSSION </vt:lpstr>
      <vt:lpstr>RESULTS AND DISCUSSION </vt:lpstr>
      <vt:lpstr>TOOLS USED</vt:lpstr>
      <vt:lpstr>SCOPE OF THE PROJECT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Rajeev Rayagada</cp:lastModifiedBy>
  <cp:revision>28</cp:revision>
  <dcterms:created xsi:type="dcterms:W3CDTF">2026-01-05T07:43:06Z</dcterms:created>
  <dcterms:modified xsi:type="dcterms:W3CDTF">2026-03-13T17:55:52Z</dcterms:modified>
</cp:coreProperties>
</file>